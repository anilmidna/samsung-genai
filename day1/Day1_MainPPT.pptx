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95" r:id="rId3"/>
    <p:sldId id="303" r:id="rId4"/>
    <p:sldId id="302" r:id="rId5"/>
    <p:sldId id="304" r:id="rId6"/>
    <p:sldId id="305" r:id="rId7"/>
    <p:sldId id="257" r:id="rId8"/>
    <p:sldId id="258" r:id="rId9"/>
    <p:sldId id="261" r:id="rId10"/>
    <p:sldId id="277" r:id="rId11"/>
    <p:sldId id="296" r:id="rId12"/>
    <p:sldId id="297" r:id="rId13"/>
    <p:sldId id="298" r:id="rId14"/>
    <p:sldId id="294" r:id="rId15"/>
    <p:sldId id="300" r:id="rId16"/>
    <p:sldId id="299" r:id="rId17"/>
    <p:sldId id="306" r:id="rId18"/>
    <p:sldId id="279" r:id="rId19"/>
    <p:sldId id="280" r:id="rId20"/>
    <p:sldId id="281" r:id="rId21"/>
    <p:sldId id="286" r:id="rId22"/>
    <p:sldId id="287" r:id="rId23"/>
    <p:sldId id="288" r:id="rId24"/>
    <p:sldId id="289" r:id="rId25"/>
    <p:sldId id="290" r:id="rId26"/>
    <p:sldId id="291" r:id="rId27"/>
    <p:sldId id="293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D4E1E-FE12-4F33-A28C-777251AA17B6}" v="7" dt="2026-05-16T17:34:46.297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Kumar S" userId="c4e05c69-1935-4d4e-9a3a-09af90e90761" providerId="ADAL" clId="{6D69B777-F16F-497B-A537-D450B283861C}"/>
    <pc:docChg chg="undo custSel addSld delSld modSld">
      <pc:chgData name="Anil Kumar S" userId="c4e05c69-1935-4d4e-9a3a-09af90e90761" providerId="ADAL" clId="{6D69B777-F16F-497B-A537-D450B283861C}" dt="2026-05-16T17:34:54.295" v="294" actId="1038"/>
      <pc:docMkLst>
        <pc:docMk/>
      </pc:docMkLst>
      <pc:sldChg chg="modSp mod">
        <pc:chgData name="Anil Kumar S" userId="c4e05c69-1935-4d4e-9a3a-09af90e90761" providerId="ADAL" clId="{6D69B777-F16F-497B-A537-D450B283861C}" dt="2026-05-16T17:02:40.291" v="105" actId="20577"/>
        <pc:sldMkLst>
          <pc:docMk/>
          <pc:sldMk cId="0" sldId="257"/>
        </pc:sldMkLst>
        <pc:spChg chg="mod">
          <ac:chgData name="Anil Kumar S" userId="c4e05c69-1935-4d4e-9a3a-09af90e90761" providerId="ADAL" clId="{6D69B777-F16F-497B-A537-D450B283861C}" dt="2026-05-16T17:02:40.291" v="105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modSp mod">
        <pc:chgData name="Anil Kumar S" userId="c4e05c69-1935-4d4e-9a3a-09af90e90761" providerId="ADAL" clId="{6D69B777-F16F-497B-A537-D450B283861C}" dt="2026-05-16T17:03:07.545" v="138" actId="1076"/>
        <pc:sldMkLst>
          <pc:docMk/>
          <pc:sldMk cId="0" sldId="258"/>
        </pc:sldMkLst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9" creationId="{00000000-0000-0000-0000-000000000000}"/>
          </ac:spMkLst>
        </pc:spChg>
        <pc:cxnChg chg="add">
          <ac:chgData name="Anil Kumar S" userId="c4e05c69-1935-4d4e-9a3a-09af90e90761" providerId="ADAL" clId="{6D69B777-F16F-497B-A537-D450B283861C}" dt="2026-05-16T17:03:01.067" v="136" actId="11529"/>
          <ac:cxnSpMkLst>
            <pc:docMk/>
            <pc:sldMk cId="0" sldId="258"/>
            <ac:cxnSpMk id="12" creationId="{3E0575E7-F0D4-0E7C-039C-93076832A198}"/>
          </ac:cxnSpMkLst>
        </pc:cxnChg>
        <pc:cxnChg chg="add mod">
          <ac:chgData name="Anil Kumar S" userId="c4e05c69-1935-4d4e-9a3a-09af90e90761" providerId="ADAL" clId="{6D69B777-F16F-497B-A537-D450B283861C}" dt="2026-05-16T17:03:07.545" v="138" actId="1076"/>
          <ac:cxnSpMkLst>
            <pc:docMk/>
            <pc:sldMk cId="0" sldId="258"/>
            <ac:cxnSpMk id="13" creationId="{88C8B276-CC55-05FB-6FA8-545B06C742A0}"/>
          </ac:cxnSpMkLst>
        </pc:cxnChg>
      </pc:sldChg>
      <pc:sldChg chg="modSp mod">
        <pc:chgData name="Anil Kumar S" userId="c4e05c69-1935-4d4e-9a3a-09af90e90761" providerId="ADAL" clId="{6D69B777-F16F-497B-A537-D450B283861C}" dt="2026-05-16T17:04:08.417" v="141" actId="122"/>
        <pc:sldMkLst>
          <pc:docMk/>
          <pc:sldMk cId="0" sldId="262"/>
        </pc:sldMkLst>
        <pc:graphicFrameChg chg="modGraphic">
          <ac:chgData name="Anil Kumar S" userId="c4e05c69-1935-4d4e-9a3a-09af90e90761" providerId="ADAL" clId="{6D69B777-F16F-497B-A537-D450B283861C}" dt="2026-05-16T17:04:08.417" v="141" actId="122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7:04:40.834" v="188" actId="20577"/>
        <pc:sldMkLst>
          <pc:docMk/>
          <pc:sldMk cId="0" sldId="264"/>
        </pc:sldMkLst>
        <pc:spChg chg="mod">
          <ac:chgData name="Anil Kumar S" userId="c4e05c69-1935-4d4e-9a3a-09af90e90761" providerId="ADAL" clId="{6D69B777-F16F-497B-A537-D450B283861C}" dt="2026-05-16T17:04:30.490" v="17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4:26.719" v="164" actId="1036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Anil Kumar S" userId="c4e05c69-1935-4d4e-9a3a-09af90e90761" providerId="ADAL" clId="{6D69B777-F16F-497B-A537-D450B283861C}" dt="2026-05-16T17:04:40.834" v="188" actId="20577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3:07:26.287" v="41" actId="404"/>
        <pc:sldMkLst>
          <pc:docMk/>
          <pc:sldMk cId="0" sldId="272"/>
        </pc:sldMkLst>
        <pc:spChg chg="mod">
          <ac:chgData name="Anil Kumar S" userId="c4e05c69-1935-4d4e-9a3a-09af90e90761" providerId="ADAL" clId="{6D69B777-F16F-497B-A537-D450B283861C}" dt="2026-05-16T13:07:26.287" v="41" actId="404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3:07:32.606" v="45" actId="404"/>
        <pc:sldMkLst>
          <pc:docMk/>
          <pc:sldMk cId="0" sldId="273"/>
        </pc:sldMkLst>
        <pc:graphicFrameChg chg="modGraphic">
          <ac:chgData name="Anil Kumar S" userId="c4e05c69-1935-4d4e-9a3a-09af90e90761" providerId="ADAL" clId="{6D69B777-F16F-497B-A537-D450B283861C}" dt="2026-05-16T13:07:32.606" v="45" actId="404"/>
          <ac:graphicFrameMkLst>
            <pc:docMk/>
            <pc:sldMk cId="0" sldId="273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3:07:36.035" v="48" actId="403"/>
        <pc:sldMkLst>
          <pc:docMk/>
          <pc:sldMk cId="0" sldId="274"/>
        </pc:sldMkLst>
        <pc:spChg chg="mod">
          <ac:chgData name="Anil Kumar S" userId="c4e05c69-1935-4d4e-9a3a-09af90e90761" providerId="ADAL" clId="{6D69B777-F16F-497B-A537-D450B283861C}" dt="2026-05-16T13:07:36.035" v="48" actId="403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3:07:42.605" v="52" actId="404"/>
        <pc:sldMkLst>
          <pc:docMk/>
          <pc:sldMk cId="0" sldId="275"/>
        </pc:sldMkLst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01.797" v="4" actId="403"/>
        <pc:sldMkLst>
          <pc:docMk/>
          <pc:sldMk cId="0" sldId="276"/>
        </pc:sldMkLst>
        <pc:spChg chg="mod">
          <ac:chgData name="Anil Kumar S" userId="c4e05c69-1935-4d4e-9a3a-09af90e90761" providerId="ADAL" clId="{6D69B777-F16F-497B-A537-D450B283861C}" dt="2026-05-16T11:59:01.797" v="4" actId="403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8:57.977" v="2" actId="403"/>
        <pc:sldMkLst>
          <pc:docMk/>
          <pc:sldMk cId="0" sldId="277"/>
        </pc:sldMkLst>
        <pc:graphicFrameChg chg="modGraphic">
          <ac:chgData name="Anil Kumar S" userId="c4e05c69-1935-4d4e-9a3a-09af90e90761" providerId="ADAL" clId="{6D69B777-F16F-497B-A537-D450B283861C}" dt="2026-05-16T11:58:57.977" v="2" actId="403"/>
          <ac:graphicFrameMkLst>
            <pc:docMk/>
            <pc:sldMk cId="0" sldId="277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08.646" v="7" actId="1036"/>
        <pc:sldMkLst>
          <pc:docMk/>
          <pc:sldMk cId="0" sldId="278"/>
        </pc:sldMkLst>
        <pc:graphicFrameChg chg="mod modGraphic">
          <ac:chgData name="Anil Kumar S" userId="c4e05c69-1935-4d4e-9a3a-09af90e90761" providerId="ADAL" clId="{6D69B777-F16F-497B-A537-D450B283861C}" dt="2026-05-16T11:59:08.646" v="7" actId="1036"/>
          <ac:graphicFrameMkLst>
            <pc:docMk/>
            <pc:sldMk cId="0" sldId="278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12.997" v="9" actId="403"/>
        <pc:sldMkLst>
          <pc:docMk/>
          <pc:sldMk cId="0" sldId="279"/>
        </pc:sldMkLst>
        <pc:graphicFrameChg chg="modGraphic">
          <ac:chgData name="Anil Kumar S" userId="c4e05c69-1935-4d4e-9a3a-09af90e90761" providerId="ADAL" clId="{6D69B777-F16F-497B-A537-D450B283861C}" dt="2026-05-16T11:59:12.997" v="9" actId="403"/>
          <ac:graphicFrameMkLst>
            <pc:docMk/>
            <pc:sldMk cId="0" sldId="279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20.476" v="12" actId="403"/>
        <pc:sldMkLst>
          <pc:docMk/>
          <pc:sldMk cId="0" sldId="280"/>
        </pc:sldMkLst>
        <pc:spChg chg="mod">
          <ac:chgData name="Anil Kumar S" userId="c4e05c69-1935-4d4e-9a3a-09af90e90761" providerId="ADAL" clId="{6D69B777-F16F-497B-A537-D450B283861C}" dt="2026-05-16T11:59:20.476" v="12" actId="403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23.766" v="14" actId="403"/>
        <pc:sldMkLst>
          <pc:docMk/>
          <pc:sldMk cId="0" sldId="281"/>
        </pc:sldMkLst>
        <pc:spChg chg="mod">
          <ac:chgData name="Anil Kumar S" userId="c4e05c69-1935-4d4e-9a3a-09af90e90761" providerId="ADAL" clId="{6D69B777-F16F-497B-A537-D450B283861C}" dt="2026-05-16T11:59:23.766" v="14" actId="403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35.531" v="21" actId="403"/>
        <pc:sldMkLst>
          <pc:docMk/>
          <pc:sldMk cId="0" sldId="282"/>
        </pc:sldMkLst>
        <pc:graphicFrameChg chg="modGraphic">
          <ac:chgData name="Anil Kumar S" userId="c4e05c69-1935-4d4e-9a3a-09af90e90761" providerId="ADAL" clId="{6D69B777-F16F-497B-A537-D450B283861C}" dt="2026-05-16T11:59:35.531" v="21" actId="403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40.172" v="23" actId="403"/>
        <pc:sldMkLst>
          <pc:docMk/>
          <pc:sldMk cId="0" sldId="283"/>
        </pc:sldMkLst>
        <pc:graphicFrameChg chg="modGraphic">
          <ac:chgData name="Anil Kumar S" userId="c4e05c69-1935-4d4e-9a3a-09af90e90761" providerId="ADAL" clId="{6D69B777-F16F-497B-A537-D450B283861C}" dt="2026-05-16T11:59:40.172" v="23" actId="403"/>
          <ac:graphicFrameMkLst>
            <pc:docMk/>
            <pc:sldMk cId="0" sldId="283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43.674" v="25" actId="403"/>
        <pc:sldMkLst>
          <pc:docMk/>
          <pc:sldMk cId="0" sldId="284"/>
        </pc:sldMkLst>
        <pc:spChg chg="mod">
          <ac:chgData name="Anil Kumar S" userId="c4e05c69-1935-4d4e-9a3a-09af90e90761" providerId="ADAL" clId="{6D69B777-F16F-497B-A537-D450B283861C}" dt="2026-05-16T11:59:43.674" v="25" actId="403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46.529" v="27" actId="403"/>
        <pc:sldMkLst>
          <pc:docMk/>
          <pc:sldMk cId="0" sldId="285"/>
        </pc:sldMkLst>
        <pc:spChg chg="mod">
          <ac:chgData name="Anil Kumar S" userId="c4e05c69-1935-4d4e-9a3a-09af90e90761" providerId="ADAL" clId="{6D69B777-F16F-497B-A537-D450B283861C}" dt="2026-05-16T11:59:46.529" v="27" actId="403"/>
          <ac:spMkLst>
            <pc:docMk/>
            <pc:sldMk cId="0" sldId="285"/>
            <ac:spMk id="6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2:11:03.030" v="37" actId="6549"/>
        <pc:sldMkLst>
          <pc:docMk/>
          <pc:sldMk cId="0" sldId="286"/>
        </pc:sldMkLst>
        <pc:spChg chg="mod">
          <ac:chgData name="Anil Kumar S" userId="c4e05c69-1935-4d4e-9a3a-09af90e90761" providerId="ADAL" clId="{6D69B777-F16F-497B-A537-D450B283861C}" dt="2026-05-16T12:11:03.030" v="37" actId="6549"/>
          <ac:spMkLst>
            <pc:docMk/>
            <pc:sldMk cId="0" sldId="286"/>
            <ac:spMk id="2" creationId="{00000000-0000-0000-0000-000000000000}"/>
          </ac:spMkLst>
        </pc:spChg>
      </pc:sldChg>
      <pc:sldChg chg="del">
        <pc:chgData name="Anil Kumar S" userId="c4e05c69-1935-4d4e-9a3a-09af90e90761" providerId="ADAL" clId="{6D69B777-F16F-497B-A537-D450B283861C}" dt="2026-05-16T12:00:23.935" v="34" actId="47"/>
        <pc:sldMkLst>
          <pc:docMk/>
          <pc:sldMk cId="0" sldId="292"/>
        </pc:sldMkLst>
      </pc:sldChg>
      <pc:sldChg chg="modSp mod">
        <pc:chgData name="Anil Kumar S" userId="c4e05c69-1935-4d4e-9a3a-09af90e90761" providerId="ADAL" clId="{6D69B777-F16F-497B-A537-D450B283861C}" dt="2026-05-16T12:00:16.809" v="33" actId="404"/>
        <pc:sldMkLst>
          <pc:docMk/>
          <pc:sldMk cId="0" sldId="293"/>
        </pc:sldMkLst>
        <pc:spChg chg="mod">
          <ac:chgData name="Anil Kumar S" userId="c4e05c69-1935-4d4e-9a3a-09af90e90761" providerId="ADAL" clId="{6D69B777-F16F-497B-A537-D450B283861C}" dt="2026-05-16T12:00:16.809" v="33" actId="404"/>
          <ac:spMkLst>
            <pc:docMk/>
            <pc:sldMk cId="0" sldId="293"/>
            <ac:spMk id="4" creationId="{00000000-0000-0000-0000-000000000000}"/>
          </ac:spMkLst>
        </pc:spChg>
      </pc:sldChg>
      <pc:sldChg chg="del">
        <pc:chgData name="Anil Kumar S" userId="c4e05c69-1935-4d4e-9a3a-09af90e90761" providerId="ADAL" clId="{6D69B777-F16F-497B-A537-D450B283861C}" dt="2026-05-16T12:00:10.361" v="29" actId="47"/>
        <pc:sldMkLst>
          <pc:docMk/>
          <pc:sldMk cId="0" sldId="294"/>
        </pc:sldMkLst>
      </pc:sldChg>
      <pc:sldChg chg="addSp delSp modSp add mod">
        <pc:chgData name="Anil Kumar S" userId="c4e05c69-1935-4d4e-9a3a-09af90e90761" providerId="ADAL" clId="{6D69B777-F16F-497B-A537-D450B283861C}" dt="2026-05-16T17:34:54.295" v="294" actId="1038"/>
        <pc:sldMkLst>
          <pc:docMk/>
          <pc:sldMk cId="917337155" sldId="294"/>
        </pc:sldMkLst>
        <pc:spChg chg="mod">
          <ac:chgData name="Anil Kumar S" userId="c4e05c69-1935-4d4e-9a3a-09af90e90761" providerId="ADAL" clId="{6D69B777-F16F-497B-A537-D450B283861C}" dt="2026-05-16T17:32:29.155" v="247" actId="1076"/>
          <ac:spMkLst>
            <pc:docMk/>
            <pc:sldMk cId="917337155" sldId="294"/>
            <ac:spMk id="2" creationId="{15F5AD5B-9D70-FE6A-A01B-B894A2E5C9EE}"/>
          </ac:spMkLst>
        </pc:spChg>
        <pc:spChg chg="add mod">
          <ac:chgData name="Anil Kumar S" userId="c4e05c69-1935-4d4e-9a3a-09af90e90761" providerId="ADAL" clId="{6D69B777-F16F-497B-A537-D450B283861C}" dt="2026-05-16T17:32:43.209" v="251" actId="207"/>
          <ac:spMkLst>
            <pc:docMk/>
            <pc:sldMk cId="917337155" sldId="294"/>
            <ac:spMk id="7" creationId="{D2A5B3FB-0AA4-23F9-DA20-6DEA9E116084}"/>
          </ac:spMkLst>
        </pc:spChg>
        <pc:graphicFrameChg chg="del">
          <ac:chgData name="Anil Kumar S" userId="c4e05c69-1935-4d4e-9a3a-09af90e90761" providerId="ADAL" clId="{6D69B777-F16F-497B-A537-D450B283861C}" dt="2026-05-16T17:31:06.298" v="190" actId="478"/>
          <ac:graphicFrameMkLst>
            <pc:docMk/>
            <pc:sldMk cId="917337155" sldId="294"/>
            <ac:graphicFrameMk id="4" creationId="{F4EDA514-FA26-F526-185C-8A00037095C6}"/>
          </ac:graphicFrameMkLst>
        </pc:graphicFrameChg>
        <pc:graphicFrameChg chg="add mod modGraphic">
          <ac:chgData name="Anil Kumar S" userId="c4e05c69-1935-4d4e-9a3a-09af90e90761" providerId="ADAL" clId="{6D69B777-F16F-497B-A537-D450B283861C}" dt="2026-05-16T17:34:54.295" v="294" actId="1038"/>
          <ac:graphicFrameMkLst>
            <pc:docMk/>
            <pc:sldMk cId="917337155" sldId="294"/>
            <ac:graphicFrameMk id="5" creationId="{407ACE07-D88A-C2FF-5474-433AA8A6FD12}"/>
          </ac:graphicFrameMkLst>
        </pc:graphicFrameChg>
      </pc:sldChg>
      <pc:sldChg chg="del">
        <pc:chgData name="Anil Kumar S" userId="c4e05c69-1935-4d4e-9a3a-09af90e90761" providerId="ADAL" clId="{6D69B777-F16F-497B-A537-D450B283861C}" dt="2026-05-16T12:00:00.117" v="28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F2AF0-82EF-43B0-871D-2BFECA596924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8F71C-938C-44FA-B037-81E225E19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7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590B-101F-B0BB-EA6D-D0A1535B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CF593-4836-238A-DDC8-02AA6E1E5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D633C-AC07-FE39-2B46-D7A1B417D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7EE37-3B48-994C-43D9-50D41A25B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9A6A-6C4B-BBCB-C100-EC424091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818BE-10DC-D7B6-1574-F2765A67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7C279-FFA8-12C1-4A37-FFD884EB6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F00C7-3611-13E8-1497-76547C46B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12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7C9E-2905-327E-B50E-5BF10E31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33C8A-C841-56D3-7A70-98CA80233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B42F2-0BF7-C469-048C-7692860D6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48C5C-E184-8502-B3D7-AB2D8D8C2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72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1FF3-5FC3-1C1B-86E4-D0492C4D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10C12-1E1B-8FA0-D08D-711D126E6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997B9-5081-9602-9044-91187A37E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0FD3A-CA03-4DCB-1D53-B7A03FC1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65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F245-9B71-3DF0-8267-FADB9D63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BCE34-09D4-854F-F09B-9D659F451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8B1D2-1BC8-691C-8BBE-396152569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BB961-4185-3D39-EE45-576FD3EE8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09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997B-ADE9-FE79-7AB7-5A302EF8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630D8-838E-393E-5EB6-5DC579F16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DB950-BAD3-74CC-59FA-A39FA6D3A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23DE8-A0F1-8D7A-75A3-9D1AB9C12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92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tonic.ai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889635"/>
            <a:ext cx="114574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 dirty="0">
                <a:solidFill>
                  <a:srgbClr val="FFFFFF"/>
                </a:solidFill>
                <a:latin typeface="Aptos Narrow"/>
              </a:rPr>
              <a:t>GenAI for Data Engineers</a:t>
            </a:r>
            <a:endParaRPr lang="en-IN" sz="6600" b="1" i="0" dirty="0">
              <a:solidFill>
                <a:srgbClr val="FFFFFF"/>
              </a:solidFill>
              <a:latin typeface="Aptos Narrow"/>
            </a:endParaRPr>
          </a:p>
          <a:p>
            <a:pPr algn="ctr"/>
            <a:r>
              <a:rPr sz="4800" b="1" i="0" dirty="0">
                <a:solidFill>
                  <a:srgbClr val="FFFFFF"/>
                </a:solidFill>
                <a:latin typeface="Aptos Narrow"/>
              </a:rPr>
              <a:t>
Day 1 — LLM Landscape &amp;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023360"/>
            <a:ext cx="11457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AA"/>
                </a:solidFill>
                <a:latin typeface="Aptos Narrow"/>
              </a:rPr>
              <a:t>Sigma Intelligence Bootcamp  ·  18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709160"/>
            <a:ext cx="57881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365760" y="4892040"/>
            <a:ext cx="11457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C8D8"/>
                </a:solidFill>
                <a:latin typeface="Aptos Narrow"/>
              </a:rPr>
              <a:t>15 Days  ·  70% Hands-On  ·  Production-Ready AI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4113728" cy="685621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239413" y="2615396"/>
            <a:ext cx="3565231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99" b="1" dirty="0">
                <a:solidFill>
                  <a:srgbClr val="00B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ANIL KUMAR S</a:t>
            </a:r>
            <a:endParaRPr lang="en-US" sz="2399" dirty="0">
              <a:solidFill>
                <a:srgbClr val="00B0F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248" y="3417871"/>
            <a:ext cx="3565231" cy="685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 dirty="0">
                <a:solidFill>
                  <a:srgbClr val="FFF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Ex-Associate Director, Kyndryl/IBM | Solutions Architect –FinOps, Multi Cloud, Data &amp; Gen AI | TEDx Speaker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08" y="5339982"/>
            <a:ext cx="521072" cy="5210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79393" y="202607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6" b="1" kern="0" spc="4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666" dirty="0"/>
          </a:p>
        </p:txBody>
      </p:sp>
      <p:sp>
        <p:nvSpPr>
          <p:cNvPr id="15" name="Shape 10"/>
          <p:cNvSpPr/>
          <p:nvPr/>
        </p:nvSpPr>
        <p:spPr>
          <a:xfrm>
            <a:off x="4479393" y="665406"/>
            <a:ext cx="1406230" cy="106919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6" name="Text 11"/>
          <p:cNvSpPr/>
          <p:nvPr/>
        </p:nvSpPr>
        <p:spPr>
          <a:xfrm>
            <a:off x="4562860" y="834269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562860" y="1199934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8" name="Text 13"/>
          <p:cNvSpPr/>
          <p:nvPr/>
        </p:nvSpPr>
        <p:spPr>
          <a:xfrm>
            <a:off x="4562860" y="1291351"/>
            <a:ext cx="7313295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25+ YEARS OF EXPERIENCE IN GLOBAL MNC IN Solutioning, Designing, Architecting, Implementing and Maintaining IT Systems on Multi Cloud, Data &amp; AI. 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Aptos Narrow" panose="020B0004020202020204" pitchFamily="34" charset="0"/>
              </a:rPr>
              <a:t>5000+ HOURS OF TRAINING EXPERIENCE</a:t>
            </a:r>
          </a:p>
          <a:p>
            <a:pPr>
              <a:spcAft>
                <a:spcPts val="400"/>
              </a:spcAft>
            </a:pPr>
            <a:endParaRPr lang="en-US" sz="1700" dirty="0">
              <a:latin typeface="Aptos Narrow" panose="020B00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62860" y="2233474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TEACHING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562860" y="2629289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1" name="Text 16"/>
          <p:cNvSpPr/>
          <p:nvPr/>
        </p:nvSpPr>
        <p:spPr>
          <a:xfrm>
            <a:off x="4544803" y="2731349"/>
            <a:ext cx="7595492" cy="15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Mentor &amp; Instructor @ GREAT LEARNING - PG Program in Cloud Computing &amp; DevOps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Designed &amp; Delivering Cloud and DevOps with Gen AI Training Program Certified by IITM P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Professor of Practice 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- VIT Vellore, </a:t>
            </a:r>
            <a:r>
              <a:rPr lang="en-US" sz="1700" dirty="0" err="1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Veltech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Chennai &amp; GRT Institute of Engineering &amp; Technology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Evaluator and Jury Member - Smart India Hackathon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Corporate Trainer in Cloud, Data &amp; Gen AI</a:t>
            </a:r>
          </a:p>
        </p:txBody>
      </p:sp>
      <p:sp>
        <p:nvSpPr>
          <p:cNvPr id="22" name="Text 17"/>
          <p:cNvSpPr/>
          <p:nvPr/>
        </p:nvSpPr>
        <p:spPr>
          <a:xfrm>
            <a:off x="4515166" y="4873776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CERTIFICATIONS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562860" y="5221260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4" name="Text 19"/>
          <p:cNvSpPr/>
          <p:nvPr/>
        </p:nvSpPr>
        <p:spPr>
          <a:xfrm>
            <a:off x="4418451" y="5366626"/>
            <a:ext cx="7313295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MBA &amp; EXEC ALUMNI IIM –C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Certified in AWS, Azure, Google Public cloud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PMP Certified (Project Management Professional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Finops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Certified Practitioner &amp; Certified in FinOps for AI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1A0410"/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524" y="6699075"/>
            <a:ext cx="12158353" cy="45708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7" name="Text 22"/>
          <p:cNvSpPr/>
          <p:nvPr/>
        </p:nvSpPr>
        <p:spPr>
          <a:xfrm>
            <a:off x="11427023" y="6582859"/>
            <a:ext cx="274249" cy="22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FFD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72E00101-7257-6202-CD9C-9A037C2CC04C}"/>
              </a:ext>
            </a:extLst>
          </p:cNvPr>
          <p:cNvGrpSpPr/>
          <p:nvPr/>
        </p:nvGrpSpPr>
        <p:grpSpPr>
          <a:xfrm>
            <a:off x="1065197" y="678705"/>
            <a:ext cx="1913667" cy="1909665"/>
            <a:chOff x="0" y="0"/>
            <a:chExt cx="6350000" cy="6349975"/>
          </a:xfrm>
        </p:grpSpPr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6F5BE415-A458-443D-E83E-D1184949C534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5715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0835748-2F22-B0B8-5E0F-977BFF5214FF}"/>
              </a:ext>
            </a:extLst>
          </p:cNvPr>
          <p:cNvSpPr txBox="1"/>
          <p:nvPr/>
        </p:nvSpPr>
        <p:spPr>
          <a:xfrm>
            <a:off x="842750" y="5479445"/>
            <a:ext cx="3312841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58"/>
              </a:lnSpc>
            </a:pPr>
            <a:r>
              <a:rPr lang="en-US" dirty="0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linkedin.com/in/</a:t>
            </a:r>
            <a:r>
              <a:rPr lang="en-US" dirty="0" err="1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askanilkumar</a:t>
            </a:r>
            <a:r>
              <a:rPr lang="en-US" dirty="0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124AC-27F4-DC23-E116-E1EDF15E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A63C0B6-E7BC-0525-022C-D78245BFCE6D}"/>
              </a:ext>
            </a:extLst>
          </p:cNvPr>
          <p:cNvSpPr/>
          <p:nvPr/>
        </p:nvSpPr>
        <p:spPr>
          <a:xfrm>
            <a:off x="3457575" y="2209800"/>
            <a:ext cx="4981575" cy="2266950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2 Scenarios</a:t>
            </a:r>
          </a:p>
        </p:txBody>
      </p:sp>
    </p:spTree>
    <p:extLst>
      <p:ext uri="{BB962C8B-B14F-4D97-AF65-F5344CB8AC3E}">
        <p14:creationId xmlns:p14="http://schemas.microsoft.com/office/powerpoint/2010/main" val="378548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53AB5-66DB-F8AF-CDD7-4B775ED7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92AE4B-BE09-6172-769C-210A423FB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36307"/>
              </p:ext>
            </p:extLst>
          </p:nvPr>
        </p:nvGraphicFramePr>
        <p:xfrm>
          <a:off x="960436" y="2594451"/>
          <a:ext cx="9925050" cy="2804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5010">
                  <a:extLst>
                    <a:ext uri="{9D8B030D-6E8A-4147-A177-3AD203B41FA5}">
                      <a16:colId xmlns:a16="http://schemas.microsoft.com/office/drawing/2014/main" val="770134729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4209995911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2675875272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1089603755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3799751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chemeClr val="bg1"/>
                          </a:solidFill>
                        </a:rPr>
                        <a:t>txn_id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chemeClr val="bg1"/>
                          </a:solidFill>
                        </a:rPr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chemeClr val="bg1"/>
                          </a:solidFill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</a:rPr>
                        <a:t>merchant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24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₹24,999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02:17:33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M4521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86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₹24,999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02:18:01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M4521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41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₹24,999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02:18:29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M4521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05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₹1.00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02:19:00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M4521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303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1005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₹1,87,000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02:19:45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M7823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445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E2DF45-0EC8-9BAC-F2FC-6C24883FA73F}"/>
              </a:ext>
            </a:extLst>
          </p:cNvPr>
          <p:cNvSpPr txBox="1"/>
          <p:nvPr/>
        </p:nvSpPr>
        <p:spPr>
          <a:xfrm>
            <a:off x="228599" y="273218"/>
            <a:ext cx="113887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1" dirty="0">
                <a:solidFill>
                  <a:srgbClr val="00B0F0"/>
                </a:solidFill>
              </a:rPr>
              <a:t>"You are a data engineer at Sigma </a:t>
            </a:r>
            <a:r>
              <a:rPr lang="en-US" sz="3200" b="1" i="1" dirty="0" err="1">
                <a:solidFill>
                  <a:srgbClr val="00B0F0"/>
                </a:solidFill>
              </a:rPr>
              <a:t>DataTech</a:t>
            </a:r>
            <a:r>
              <a:rPr lang="en-US" sz="3200" b="1" i="1" dirty="0">
                <a:solidFill>
                  <a:srgbClr val="00B0F0"/>
                </a:solidFill>
              </a:rPr>
              <a:t>. This is five rows from the transaction table you built last month. Look at it for 30 seconds.  Tell me what you see."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FD4F3B-A5B3-98C4-1630-9FD257BC047F}"/>
              </a:ext>
            </a:extLst>
          </p:cNvPr>
          <p:cNvSpPr/>
          <p:nvPr/>
        </p:nvSpPr>
        <p:spPr>
          <a:xfrm>
            <a:off x="228599" y="1733550"/>
            <a:ext cx="731837" cy="860901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734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F0031-2135-7204-3D1F-C0596E0D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98C45-9630-8D17-1396-7AF3BADC5220}"/>
              </a:ext>
            </a:extLst>
          </p:cNvPr>
          <p:cNvSpPr txBox="1"/>
          <p:nvPr/>
        </p:nvSpPr>
        <p:spPr>
          <a:xfrm>
            <a:off x="1171575" y="2644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</a:rPr>
              <a:t>The Pipeline That Fixed Itself</a:t>
            </a:r>
            <a:endParaRPr lang="en-IN" sz="3600" b="1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68B26-92B7-33C2-6F14-F2F04BFEA503}"/>
              </a:ext>
            </a:extLst>
          </p:cNvPr>
          <p:cNvSpPr txBox="1"/>
          <p:nvPr/>
        </p:nvSpPr>
        <p:spPr>
          <a:xfrm>
            <a:off x="1171575" y="1542591"/>
            <a:ext cx="1074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Your pipeline broke at 3 AM. It fixed itself. You never woke up.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62543-0CCD-1AF5-D0C0-CD5060DB8ACD}"/>
              </a:ext>
            </a:extLst>
          </p:cNvPr>
          <p:cNvSpPr txBox="1"/>
          <p:nvPr/>
        </p:nvSpPr>
        <p:spPr>
          <a:xfrm>
            <a:off x="447675" y="2992606"/>
            <a:ext cx="11201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92D050"/>
                </a:solidFill>
              </a:rPr>
              <a:t>Monday. 3:17 AM. Sigma </a:t>
            </a:r>
            <a:r>
              <a:rPr lang="en-US" sz="2800" dirty="0" err="1">
                <a:solidFill>
                  <a:srgbClr val="92D050"/>
                </a:solidFill>
              </a:rPr>
              <a:t>DataTech's</a:t>
            </a:r>
            <a:r>
              <a:rPr lang="en-US" sz="2800" dirty="0">
                <a:solidFill>
                  <a:srgbClr val="92D050"/>
                </a:solidFill>
              </a:rPr>
              <a:t> payment reconciliation pipeline fails silently. Upstream bank changed their CSV format without notice. ₹4 crore of transactions are stuck unprocessed. The CFO's Monday 9 AM dashboard is at risk.</a:t>
            </a:r>
          </a:p>
          <a:p>
            <a:pPr>
              <a:buNone/>
            </a:pPr>
            <a:endParaRPr lang="en-US" sz="2800" dirty="0">
              <a:solidFill>
                <a:srgbClr val="92D050"/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rgbClr val="92D050"/>
                </a:solidFill>
              </a:rPr>
              <a:t>Nobody's phone rings. No one is woken up….</a:t>
            </a:r>
            <a:endParaRPr lang="en-US" sz="2800" dirty="0">
              <a:solidFill>
                <a:srgbClr val="92D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D71F38-8C72-7EF5-2324-6ABB69B0C613}"/>
              </a:ext>
            </a:extLst>
          </p:cNvPr>
          <p:cNvSpPr/>
          <p:nvPr/>
        </p:nvSpPr>
        <p:spPr>
          <a:xfrm>
            <a:off x="228599" y="1733550"/>
            <a:ext cx="731837" cy="860901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9C7D76-A5C8-984B-34CC-44256DBBEE9C}"/>
              </a:ext>
            </a:extLst>
          </p:cNvPr>
          <p:cNvSpPr txBox="1"/>
          <p:nvPr/>
        </p:nvSpPr>
        <p:spPr>
          <a:xfrm>
            <a:off x="2066924" y="6130522"/>
            <a:ext cx="7934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Do not worry !! Your Agent is Watching !!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9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C86BB-538A-6FE6-11B3-CE5CCB18C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8EFDC3-BB76-ED0C-C68C-81DC8B697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8655"/>
              </p:ext>
            </p:extLst>
          </p:nvPr>
        </p:nvGraphicFramePr>
        <p:xfrm>
          <a:off x="1371599" y="1004359"/>
          <a:ext cx="9438909" cy="5004030"/>
        </p:xfrm>
        <a:graphic>
          <a:graphicData uri="http://schemas.openxmlformats.org/drawingml/2006/table">
            <a:tbl>
              <a:tblPr/>
              <a:tblGrid>
                <a:gridCol w="2047509">
                  <a:extLst>
                    <a:ext uri="{9D8B030D-6E8A-4147-A177-3AD203B41FA5}">
                      <a16:colId xmlns:a16="http://schemas.microsoft.com/office/drawing/2014/main" val="3404694543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1570838245"/>
                    </a:ext>
                  </a:extLst>
                </a:gridCol>
              </a:tblGrid>
              <a:tr h="15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Action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235044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3:17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Detects pipeline failure. Reads the error log.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792169"/>
                  </a:ext>
                </a:extLst>
              </a:tr>
              <a:tr h="69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3:18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Pulls the new CSV from S3. Compares schema to expected. Finds 2 new columns, 1 renamed field.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28865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3:19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Rewrites the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Databricks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notebook to handle both old and new format.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371290"/>
                  </a:ext>
                </a:extLst>
              </a:tr>
              <a:tr h="476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3:20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Runs the notebook on 500 sample rows. All pass.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307960"/>
                  </a:ext>
                </a:extLst>
              </a:tr>
              <a:tr h="69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3:21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Deploys fix. Reruns failed job. Bronze → Silver → Gold. All ₹4 crore lands in </a:t>
                      </a:r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Snowflake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07243"/>
                  </a:ext>
                </a:extLst>
              </a:tr>
              <a:tr h="905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3:22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Detects the new column contains merchant category codes. Auto-updates the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Snowflake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schema, refreshes the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dbt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model, triggers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Power BI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dataset refresh.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37540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3:23 AM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Writes RCA. Raises GitHub PR. Pings Slack: </a:t>
                      </a:r>
                      <a:r>
                        <a:rPr lang="en-US" sz="2000" i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"Fixed. CFO dashboard is live."</a:t>
                      </a:r>
                      <a:endParaRPr lang="en-US" sz="2000" dirty="0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5529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BABCFE-88D1-E2D6-AD6B-F11C20552DB5}"/>
              </a:ext>
            </a:extLst>
          </p:cNvPr>
          <p:cNvSpPr txBox="1"/>
          <p:nvPr/>
        </p:nvSpPr>
        <p:spPr>
          <a:xfrm>
            <a:off x="1371599" y="6159097"/>
            <a:ext cx="7934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</a:rPr>
              <a:t>3:24 AM — Agent goes back to watching mode.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3120A-8224-63BD-A6CD-CA99E097C07B}"/>
              </a:ext>
            </a:extLst>
          </p:cNvPr>
          <p:cNvSpPr txBox="1"/>
          <p:nvPr/>
        </p:nvSpPr>
        <p:spPr>
          <a:xfrm>
            <a:off x="1438275" y="1977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</a:rPr>
              <a:t>Agentic AI in Action</a:t>
            </a:r>
            <a:endParaRPr lang="en-IN" sz="3600" b="1" dirty="0">
              <a:solidFill>
                <a:srgbClr val="FFC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A84019-3E0C-C8F5-8EFC-CB081C47611D}"/>
              </a:ext>
            </a:extLst>
          </p:cNvPr>
          <p:cNvSpPr/>
          <p:nvPr/>
        </p:nvSpPr>
        <p:spPr>
          <a:xfrm>
            <a:off x="228599" y="1733550"/>
            <a:ext cx="731837" cy="860901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140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Narrow"/>
              </a:rPr>
              <a:t>From Data Platform to AI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65760" y="1368933"/>
            <a:ext cx="11457432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Aptos Narrow"/>
              </a:rPr>
              <a:t>• You spent 25 days building Sigma </a:t>
            </a:r>
            <a:r>
              <a:rPr sz="2800" dirty="0" err="1">
                <a:solidFill>
                  <a:srgbClr val="FFFFFF"/>
                </a:solidFill>
                <a:latin typeface="Aptos Narrow"/>
              </a:rPr>
              <a:t>DataTech's</a:t>
            </a:r>
            <a:r>
              <a:rPr sz="2800" dirty="0">
                <a:solidFill>
                  <a:srgbClr val="FFFFFF"/>
                </a:solidFill>
                <a:latin typeface="Aptos Narrow"/>
              </a:rPr>
              <a:t> data platform on AWS </a:t>
            </a:r>
            <a:r>
              <a:rPr lang="en-IN" sz="2800" dirty="0">
                <a:solidFill>
                  <a:srgbClr val="FFFFFF"/>
                </a:solidFill>
                <a:latin typeface="Aptos Narrow"/>
              </a:rPr>
              <a:t>/Azure</a:t>
            </a:r>
            <a:r>
              <a:rPr sz="2800" dirty="0">
                <a:solidFill>
                  <a:srgbClr val="FFFFFF"/>
                </a:solidFill>
                <a:latin typeface="Aptos Narrow"/>
              </a:rPr>
              <a:t>—</a:t>
            </a:r>
          </a:p>
          <a:p>
            <a:r>
              <a:rPr sz="2400" dirty="0">
                <a:solidFill>
                  <a:srgbClr val="BBC8D8"/>
                </a:solidFill>
                <a:latin typeface="Aptos Narrow"/>
              </a:rPr>
              <a:t>    › </a:t>
            </a:r>
            <a:r>
              <a:rPr lang="en-IN" sz="2400" dirty="0">
                <a:solidFill>
                  <a:srgbClr val="BBC8D8"/>
                </a:solidFill>
                <a:latin typeface="Aptos Narrow"/>
              </a:rPr>
              <a:t>Cloud DE</a:t>
            </a:r>
            <a:r>
              <a:rPr sz="2400" dirty="0">
                <a:solidFill>
                  <a:srgbClr val="BBC8D8"/>
                </a:solidFill>
                <a:latin typeface="Aptos Narrow"/>
              </a:rPr>
              <a:t>· Databricks · Airflow · Snowflake</a:t>
            </a:r>
            <a:r>
              <a:rPr lang="en-IN" sz="2400" dirty="0">
                <a:solidFill>
                  <a:srgbClr val="BBC8D8"/>
                </a:solidFill>
                <a:latin typeface="Aptos Narrow"/>
              </a:rPr>
              <a:t> · Power BI</a:t>
            </a:r>
            <a:endParaRPr sz="2400" dirty="0">
              <a:solidFill>
                <a:srgbClr val="BBC8D8"/>
              </a:solidFill>
              <a:latin typeface="Aptos Narrow"/>
            </a:endParaRPr>
          </a:p>
          <a:p>
            <a:pPr>
              <a:spcAft>
                <a:spcPts val="600"/>
              </a:spcAft>
            </a:pPr>
            <a:endParaRPr sz="2400" dirty="0">
              <a:solidFill>
                <a:srgbClr val="BBC8D8"/>
              </a:solidFill>
              <a:latin typeface="Aptos Narrow"/>
            </a:endParaRPr>
          </a:p>
          <a:p>
            <a:r>
              <a:rPr sz="2800" dirty="0">
                <a:solidFill>
                  <a:srgbClr val="FFFFFF"/>
                </a:solidFill>
                <a:latin typeface="Aptos Narrow"/>
              </a:rPr>
              <a:t>• The business has a new ask:</a:t>
            </a:r>
          </a:p>
          <a:p>
            <a:r>
              <a:rPr sz="2400" dirty="0">
                <a:solidFill>
                  <a:srgbClr val="BBC8D8"/>
                </a:solidFill>
                <a:latin typeface="Aptos Narrow"/>
              </a:rPr>
              <a:t>    › 'Our pipelines run. Now make them </a:t>
            </a:r>
            <a:r>
              <a:rPr lang="en-IN" sz="2400" b="1" dirty="0">
                <a:solidFill>
                  <a:srgbClr val="FFC000"/>
                </a:solidFill>
                <a:latin typeface="Aptos Narrow"/>
              </a:rPr>
              <a:t>Intelligent</a:t>
            </a:r>
            <a:r>
              <a:rPr sz="2400" dirty="0">
                <a:solidFill>
                  <a:srgbClr val="BBC8D8"/>
                </a:solidFill>
                <a:latin typeface="Aptos Narrow"/>
              </a:rPr>
              <a:t>.'</a:t>
            </a:r>
          </a:p>
          <a:p>
            <a:pPr>
              <a:spcAft>
                <a:spcPts val="600"/>
              </a:spcAft>
            </a:pPr>
            <a:endParaRPr sz="2400" dirty="0">
              <a:solidFill>
                <a:srgbClr val="BBC8D8"/>
              </a:solidFill>
              <a:latin typeface="Aptos Narrow"/>
            </a:endParaRPr>
          </a:p>
          <a:p>
            <a:r>
              <a:rPr sz="2800" dirty="0">
                <a:solidFill>
                  <a:srgbClr val="FFFFFF"/>
                </a:solidFill>
                <a:latin typeface="Aptos Narrow"/>
              </a:rPr>
              <a:t>• Sigma </a:t>
            </a:r>
            <a:r>
              <a:rPr sz="2800" dirty="0" err="1">
                <a:solidFill>
                  <a:srgbClr val="FFFFFF"/>
                </a:solidFill>
                <a:latin typeface="Aptos Narrow"/>
              </a:rPr>
              <a:t>DataTech</a:t>
            </a:r>
            <a:r>
              <a:rPr sz="2800" dirty="0">
                <a:solidFill>
                  <a:srgbClr val="FFFFFF"/>
                </a:solidFill>
                <a:latin typeface="Aptos Narrow"/>
              </a:rPr>
              <a:t> is spinning off Sigma Intelligence —</a:t>
            </a:r>
          </a:p>
          <a:p>
            <a:r>
              <a:rPr sz="2400" dirty="0">
                <a:solidFill>
                  <a:srgbClr val="BBC8D8"/>
                </a:solidFill>
                <a:latin typeface="Aptos Narrow"/>
              </a:rPr>
              <a:t>    › an AI-first data product team serving 50</a:t>
            </a:r>
            <a:r>
              <a:rPr lang="en-IN" sz="2400" dirty="0">
                <a:solidFill>
                  <a:srgbClr val="BBC8D8"/>
                </a:solidFill>
                <a:latin typeface="Aptos Narrow"/>
              </a:rPr>
              <a:t>+ MNC</a:t>
            </a:r>
            <a:r>
              <a:rPr sz="2400" dirty="0">
                <a:solidFill>
                  <a:srgbClr val="BBC8D8"/>
                </a:solidFill>
                <a:latin typeface="Aptos Narrow"/>
              </a:rPr>
              <a:t> enterprise clients.</a:t>
            </a:r>
          </a:p>
          <a:p>
            <a:pPr>
              <a:spcAft>
                <a:spcPts val="600"/>
              </a:spcAft>
            </a:pPr>
            <a:endParaRPr sz="2400" dirty="0">
              <a:solidFill>
                <a:srgbClr val="BBC8D8"/>
              </a:solidFill>
              <a:latin typeface="Aptos Narrow"/>
            </a:endParaRPr>
          </a:p>
          <a:p>
            <a:r>
              <a:rPr sz="2800" b="1" dirty="0">
                <a:solidFill>
                  <a:srgbClr val="00D4AA"/>
                </a:solidFill>
                <a:latin typeface="Aptos Narrow"/>
              </a:rPr>
              <a:t>You are the founding AI Data Engineering team.</a:t>
            </a:r>
          </a:p>
          <a:p>
            <a:r>
              <a:rPr sz="2800" dirty="0">
                <a:solidFill>
                  <a:srgbClr val="FFFFFF"/>
                </a:solidFill>
                <a:latin typeface="Aptos Narrow"/>
              </a:rPr>
              <a:t>• Your 15-day onboarding starts today. The clock is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Narrow"/>
              </a:rPr>
              <a:t>Your 15-Day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365760" y="2042481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AA"/>
                </a:solidFill>
                <a:latin typeface="Aptos Narrow"/>
              </a:rPr>
              <a:t>Week 1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45401"/>
            <a:ext cx="35661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GenAI &amp; LLM Landscape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Prompt Engineering for DE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AI Coding Assistants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RAG &amp; Vector Databases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MCP &amp; Tool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8" y="2042481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AA"/>
                </a:solidFill>
                <a:latin typeface="Aptos Narrow"/>
              </a:rPr>
              <a:t>Week 2 · DE 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808" y="2504146"/>
            <a:ext cx="35661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Aptos Narrow"/>
              </a:rPr>
              <a:t>• AI-Assisted SQL &amp; dbt</a:t>
            </a:r>
          </a:p>
          <a:p>
            <a:r>
              <a:rPr sz="2400">
                <a:solidFill>
                  <a:srgbClr val="FFFFFF"/>
                </a:solidFill>
                <a:latin typeface="Aptos Narrow"/>
              </a:rPr>
              <a:t>• Pipeline Code Generation</a:t>
            </a:r>
          </a:p>
          <a:p>
            <a:r>
              <a:rPr sz="2400">
                <a:solidFill>
                  <a:srgbClr val="FFFFFF"/>
                </a:solidFill>
                <a:latin typeface="Aptos Narrow"/>
              </a:rPr>
              <a:t>• Code Review &amp; Debugging</a:t>
            </a:r>
          </a:p>
          <a:p>
            <a:r>
              <a:rPr sz="2400">
                <a:solidFill>
                  <a:srgbClr val="FFFFFF"/>
                </a:solidFill>
                <a:latin typeface="Aptos Narrow"/>
              </a:rPr>
              <a:t>• AI for DataOps &amp; CI/CD</a:t>
            </a:r>
          </a:p>
          <a:p>
            <a:r>
              <a:rPr sz="2400">
                <a:solidFill>
                  <a:srgbClr val="FFFFFF"/>
                </a:solidFill>
                <a:latin typeface="Aptos Narrow"/>
              </a:rPr>
              <a:t>• Vibe Coding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1856" y="2001226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AA"/>
                </a:solidFill>
                <a:latin typeface="Aptos Narrow"/>
              </a:rPr>
              <a:t>Week 3 · Agentic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1856" y="2443353"/>
            <a:ext cx="35661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Agentic AI Foundations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Intelligent Data Ingestion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AI Governance &amp; Lineage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Self-Healing Pipelines</a:t>
            </a:r>
          </a:p>
          <a:p>
            <a:r>
              <a:rPr sz="2400" dirty="0">
                <a:solidFill>
                  <a:srgbClr val="FFFFFF"/>
                </a:solidFill>
                <a:latin typeface="Aptos Narrow"/>
              </a:rPr>
              <a:t>• </a:t>
            </a:r>
            <a:r>
              <a:rPr lang="en-IN" sz="2400" dirty="0">
                <a:solidFill>
                  <a:srgbClr val="FFFFFF"/>
                </a:solidFill>
                <a:latin typeface="Aptos Narrow"/>
              </a:rPr>
              <a:t>Project Presentation</a:t>
            </a:r>
            <a:endParaRPr sz="2400" dirty="0">
              <a:solidFill>
                <a:srgbClr val="FFFFFF"/>
              </a:solidFill>
              <a:latin typeface="Aptos Narro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57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00D4AA"/>
                </a:solidFill>
                <a:latin typeface="Aptos Narrow"/>
              </a:rPr>
              <a:t>Every day: 30% concept → live demo → 70% hands-on → team debrief → quiz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0575E7-F0D4-0E7C-039C-93076832A198}"/>
              </a:ext>
            </a:extLst>
          </p:cNvPr>
          <p:cNvCxnSpPr/>
          <p:nvPr/>
        </p:nvCxnSpPr>
        <p:spPr>
          <a:xfrm>
            <a:off x="3931920" y="1933575"/>
            <a:ext cx="0" cy="281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C8B276-CC55-05FB-6FA8-545B06C742A0}"/>
              </a:ext>
            </a:extLst>
          </p:cNvPr>
          <p:cNvCxnSpPr/>
          <p:nvPr/>
        </p:nvCxnSpPr>
        <p:spPr>
          <a:xfrm>
            <a:off x="7744968" y="1847850"/>
            <a:ext cx="0" cy="281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7FA3B0C-F98D-5546-B874-77883652FF79}"/>
              </a:ext>
            </a:extLst>
          </p:cNvPr>
          <p:cNvSpPr/>
          <p:nvPr/>
        </p:nvSpPr>
        <p:spPr>
          <a:xfrm>
            <a:off x="590550" y="4819650"/>
            <a:ext cx="2990850" cy="1238250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FOUNDATION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F058A7-733E-CDB0-0350-D1AA17C65366}"/>
              </a:ext>
            </a:extLst>
          </p:cNvPr>
          <p:cNvSpPr/>
          <p:nvPr/>
        </p:nvSpPr>
        <p:spPr>
          <a:xfrm>
            <a:off x="4381500" y="4874395"/>
            <a:ext cx="2990850" cy="123825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APPLICATION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A6685A-8061-BB41-5C4F-6C12D6FEFCEE}"/>
              </a:ext>
            </a:extLst>
          </p:cNvPr>
          <p:cNvSpPr/>
          <p:nvPr/>
        </p:nvSpPr>
        <p:spPr>
          <a:xfrm>
            <a:off x="8172450" y="4876800"/>
            <a:ext cx="2990850" cy="123825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AUTOMATION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Narrow"/>
              </a:rPr>
              <a:t>Opening Poll — Where Does Your Team Stand?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D4AA"/>
                </a:solidFill>
                <a:latin typeface="Aptos Narrow"/>
              </a:rPr>
              <a:t>Q1 — AI tools you have personally used: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Claude  /  ChatGPT  /  Gemini  /  Copilot  /  None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BBC8D8"/>
              </a:solidFill>
              <a:latin typeface="Aptos Narrow"/>
            </a:endParaRPr>
          </a:p>
          <a:p>
            <a:r>
              <a:rPr sz="2400" b="1">
                <a:solidFill>
                  <a:srgbClr val="00D4AA"/>
                </a:solidFill>
                <a:latin typeface="Aptos Narrow"/>
              </a:rPr>
              <a:t>Q2 — What worries you most about AI in DE work?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It will replace my job  /  It gives wrong code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Hard to debug  /  I don't know where to start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BBC8D8"/>
              </a:solidFill>
              <a:latin typeface="Aptos Narrow"/>
            </a:endParaRPr>
          </a:p>
          <a:p>
            <a:r>
              <a:rPr sz="2400" b="1">
                <a:solidFill>
                  <a:srgbClr val="00D4AA"/>
                </a:solidFill>
                <a:latin typeface="Aptos Narrow"/>
              </a:rPr>
              <a:t>Q3 — Which best describes you today?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'I'm excited and ready'  /  'Curious but unsure'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'Show me it's actually useful'  /  'I'm skeptical, convince me'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BBC8D8"/>
              </a:solidFill>
              <a:latin typeface="Aptos Narrow"/>
            </a:endParaRPr>
          </a:p>
          <a:p>
            <a:r>
              <a:rPr sz="2400" b="1">
                <a:solidFill>
                  <a:srgbClr val="00D4AA"/>
                </a:solidFill>
                <a:latin typeface="Aptos Narrow"/>
              </a:rPr>
              <a:t>Q4 — What's the most impressive AI thing you've seen?</a:t>
            </a:r>
          </a:p>
          <a:p>
            <a:r>
              <a:rPr sz="2000">
                <a:solidFill>
                  <a:srgbClr val="BBC8D8"/>
                </a:solidFill>
                <a:latin typeface="Aptos Narrow"/>
              </a:rPr>
              <a:t>    › 3–4 volunteers share. 1 minute each.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BBC8D8"/>
              </a:solidFill>
              <a:latin typeface="Aptos Narrow"/>
            </a:endParaRPr>
          </a:p>
          <a:p>
            <a:r>
              <a:rPr sz="2400">
                <a:solidFill>
                  <a:srgbClr val="FFFFFF"/>
                </a:solidFill>
                <a:latin typeface="Aptos Narrow"/>
              </a:rPr>
              <a:t>• We revisit these answers on Day 15. Your baseline starts now.</a:t>
            </a:r>
          </a:p>
        </p:txBody>
      </p:sp>
      <p:pic>
        <p:nvPicPr>
          <p:cNvPr id="5" name="Picture 4" descr="AhaSlides Reviews 2026: Details, Pricing, &amp; Features | G2">
            <a:extLst>
              <a:ext uri="{FF2B5EF4-FFF2-40B4-BE49-F238E27FC236}">
                <a16:creationId xmlns:a16="http://schemas.microsoft.com/office/drawing/2014/main" id="{0785BDF9-071B-26DD-DDD8-1FA8E0BD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582293"/>
            <a:ext cx="443865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8584-6EE1-2C55-85D1-1AE6167B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25B217-43E4-4C2B-8B9E-D38E10425E4F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7B9353-26E8-33B7-58C8-E2B64FFE3D15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FA4E9-E467-8CB6-98CA-8C33E855216F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8D86094-B982-5DA8-49B3-36D35ABDD2AC}"/>
              </a:ext>
            </a:extLst>
          </p:cNvPr>
          <p:cNvSpPr/>
          <p:nvPr/>
        </p:nvSpPr>
        <p:spPr>
          <a:xfrm>
            <a:off x="288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</a:rPr>
              <a:t>What is AI</a:t>
            </a:r>
            <a:endParaRPr lang="en-US" sz="319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3C43D-5DFB-3B27-6CF0-5ADEF4C4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152" y="893"/>
            <a:ext cx="6856214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3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7178-4C11-3A38-3CBE-8C177F5A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706A0D-E094-98FF-D923-C1F093532749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B3C3A6-F3F8-7D8C-ECA1-80EB40712D30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CA437-806D-0159-84DF-028D02AFF3B3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BD1A9C6-417D-BA8B-AEF3-01845EFB3349}"/>
              </a:ext>
            </a:extLst>
          </p:cNvPr>
          <p:cNvSpPr/>
          <p:nvPr/>
        </p:nvSpPr>
        <p:spPr>
          <a:xfrm>
            <a:off x="2193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</a:t>
            </a:r>
            <a:endParaRPr lang="en-US" sz="3199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577203-6FEA-CF78-2CB4-58221F365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891"/>
              </p:ext>
            </p:extLst>
          </p:nvPr>
        </p:nvGraphicFramePr>
        <p:xfrm>
          <a:off x="3193472" y="1014258"/>
          <a:ext cx="6512454" cy="36271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778654">
                  <a:extLst>
                    <a:ext uri="{9D8B030D-6E8A-4147-A177-3AD203B41FA5}">
                      <a16:colId xmlns:a16="http://schemas.microsoft.com/office/drawing/2014/main" val="29975519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975355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24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1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3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4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97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3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4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0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5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51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6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95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54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6751A-06E5-F32B-6147-3E2184FB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C61429-B74A-633F-62C9-B1672FADDB9A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F1A089-EDB1-78ED-C818-A8A56315D44E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852A6-7843-01A0-AE9C-727519106A9E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0BCEE25-00CE-A428-D4E2-BD6621B5C76B}"/>
              </a:ext>
            </a:extLst>
          </p:cNvPr>
          <p:cNvSpPr/>
          <p:nvPr/>
        </p:nvSpPr>
        <p:spPr>
          <a:xfrm>
            <a:off x="2193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</a:t>
            </a:r>
            <a:endParaRPr lang="en-US" sz="3199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276B4-0033-5334-6280-55DCB1968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164965"/>
              </p:ext>
            </p:extLst>
          </p:nvPr>
        </p:nvGraphicFramePr>
        <p:xfrm>
          <a:off x="2945184" y="1358561"/>
          <a:ext cx="6512455" cy="3474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66095">
                  <a:extLst>
                    <a:ext uri="{9D8B030D-6E8A-4147-A177-3AD203B41FA5}">
                      <a16:colId xmlns:a16="http://schemas.microsoft.com/office/drawing/2014/main" val="299755191"/>
                    </a:ext>
                  </a:extLst>
                </a:gridCol>
                <a:gridCol w="2373180">
                  <a:extLst>
                    <a:ext uri="{9D8B030D-6E8A-4147-A177-3AD203B41FA5}">
                      <a16:colId xmlns:a16="http://schemas.microsoft.com/office/drawing/2014/main" val="2975355351"/>
                    </a:ext>
                  </a:extLst>
                </a:gridCol>
                <a:gridCol w="2373180">
                  <a:extLst>
                    <a:ext uri="{9D8B030D-6E8A-4147-A177-3AD203B41FA5}">
                      <a16:colId xmlns:a16="http://schemas.microsoft.com/office/drawing/2014/main" val="1299023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24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601K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3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751K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97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961K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571K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0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503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247634-D5D1-8331-567B-BF7CB6943EDC}"/>
              </a:ext>
            </a:extLst>
          </p:cNvPr>
          <p:cNvSpPr txBox="1"/>
          <p:nvPr/>
        </p:nvSpPr>
        <p:spPr>
          <a:xfrm>
            <a:off x="9563100" y="4252615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670K</a:t>
            </a:r>
          </a:p>
        </p:txBody>
      </p:sp>
    </p:spTree>
    <p:extLst>
      <p:ext uri="{BB962C8B-B14F-4D97-AF65-F5344CB8AC3E}">
        <p14:creationId xmlns:p14="http://schemas.microsoft.com/office/powerpoint/2010/main" val="151109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1FC5-826C-0A23-CCA3-F5EF4A07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581C57-9762-27FA-BF41-890674108640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D89C8E-2EE8-76D8-FADC-C848EC739FC9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489E1-1492-0874-9991-9A76E77DE879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F630B5B-48EC-2A4E-A7F2-15F292F47AE3}"/>
              </a:ext>
            </a:extLst>
          </p:cNvPr>
          <p:cNvSpPr/>
          <p:nvPr/>
        </p:nvSpPr>
        <p:spPr>
          <a:xfrm>
            <a:off x="2193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</a:t>
            </a:r>
            <a:endParaRPr lang="en-US" sz="3199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5AB67E3-7678-DC3D-3A4A-5F15E129B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681030"/>
              </p:ext>
            </p:extLst>
          </p:nvPr>
        </p:nvGraphicFramePr>
        <p:xfrm>
          <a:off x="2265543" y="1585877"/>
          <a:ext cx="7773807" cy="31089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11480">
                  <a:extLst>
                    <a:ext uri="{9D8B030D-6E8A-4147-A177-3AD203B41FA5}">
                      <a16:colId xmlns:a16="http://schemas.microsoft.com/office/drawing/2014/main" val="299755191"/>
                    </a:ext>
                  </a:extLst>
                </a:gridCol>
                <a:gridCol w="2514327">
                  <a:extLst>
                    <a:ext uri="{9D8B030D-6E8A-4147-A177-3AD203B41FA5}">
                      <a16:colId xmlns:a16="http://schemas.microsoft.com/office/drawing/2014/main" val="29753553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99023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LOGIN DEVICE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24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3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Russia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Unknown Laptop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97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Bengaluru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Nigeria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New Device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80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25037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32ADB1F-D7FD-9F7D-2661-AD8EA6575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47042"/>
              </p:ext>
            </p:extLst>
          </p:nvPr>
        </p:nvGraphicFramePr>
        <p:xfrm>
          <a:off x="10042716" y="1576352"/>
          <a:ext cx="1863534" cy="31089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63534">
                  <a:extLst>
                    <a:ext uri="{9D8B030D-6E8A-4147-A177-3AD203B41FA5}">
                      <a16:colId xmlns:a16="http://schemas.microsoft.com/office/drawing/2014/main" val="1299023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FRAUD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24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3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97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80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2503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2F2A44A-FED9-325B-EC6D-BCD56CBF997F}"/>
              </a:ext>
            </a:extLst>
          </p:cNvPr>
          <p:cNvSpPr txBox="1"/>
          <p:nvPr/>
        </p:nvSpPr>
        <p:spPr>
          <a:xfrm>
            <a:off x="2343149" y="5434937"/>
            <a:ext cx="98456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ML Used for Final fraud risk prediction &amp; </a:t>
            </a:r>
          </a:p>
          <a:p>
            <a:r>
              <a:rPr lang="en-IN" sz="2400" dirty="0"/>
              <a:t>Gen AI used for explanation, investigation summary, conversational analysis</a:t>
            </a:r>
          </a:p>
        </p:txBody>
      </p:sp>
    </p:spTree>
    <p:extLst>
      <p:ext uri="{BB962C8B-B14F-4D97-AF65-F5344CB8AC3E}">
        <p14:creationId xmlns:p14="http://schemas.microsoft.com/office/powerpoint/2010/main" val="137682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AC523-A377-B7D8-2394-E5A987DF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F5AD5B-9D70-FE6A-A01B-B894A2E5C9EE}"/>
              </a:ext>
            </a:extLst>
          </p:cNvPr>
          <p:cNvSpPr txBox="1"/>
          <p:nvPr/>
        </p:nvSpPr>
        <p:spPr>
          <a:xfrm>
            <a:off x="270510" y="182880"/>
            <a:ext cx="11457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FFFF"/>
                </a:solidFill>
                <a:latin typeface="Aptos Narrow"/>
              </a:rPr>
              <a:t>Gen AI for DE</a:t>
            </a:r>
            <a:endParaRPr sz="3200" b="1" i="0" dirty="0">
              <a:solidFill>
                <a:srgbClr val="FFFFFF"/>
              </a:solidFill>
              <a:latin typeface="Aptos Narrow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5C70AE-4EB2-971D-2B86-2B66185D1723}"/>
              </a:ext>
            </a:extLst>
          </p:cNvPr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7ACE07-D88A-C2FF-5474-433AA8A6F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444459"/>
              </p:ext>
            </p:extLst>
          </p:nvPr>
        </p:nvGraphicFramePr>
        <p:xfrm>
          <a:off x="219075" y="1280169"/>
          <a:ext cx="11601450" cy="546505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323611914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767320823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11356024"/>
                    </a:ext>
                  </a:extLst>
                </a:gridCol>
              </a:tblGrid>
              <a:tr h="49749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>
                          <a:solidFill>
                            <a:srgbClr val="00B050"/>
                          </a:solidFill>
                          <a:effectLst/>
                        </a:rPr>
                        <a:t>Use Case</a:t>
                      </a:r>
                      <a:endParaRPr lang="en-IN" sz="2400" b="1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dirty="0">
                          <a:solidFill>
                            <a:srgbClr val="00B050"/>
                          </a:solidFill>
                          <a:effectLst/>
                        </a:rPr>
                        <a:t>Primary Value</a:t>
                      </a:r>
                      <a:endParaRPr lang="en-IN" sz="2400" b="1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dirty="0">
                          <a:solidFill>
                            <a:srgbClr val="00B050"/>
                          </a:solidFill>
                          <a:effectLst/>
                        </a:rPr>
                        <a:t>Typical Tools/Integrations</a:t>
                      </a:r>
                      <a:endParaRPr lang="en-IN" sz="2400" b="1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792212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Code &amp; Pipeline Generation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10x developer velocity, less boilerplate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GitHub Copilot,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effectLst/>
                        </a:rPr>
                        <a:t>dbt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, Airflow, Databricks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244140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Text-to-SQL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Self‑service analytics, reduced ad‑hoc load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it-IT" sz="1800" b="0">
                          <a:solidFill>
                            <a:schemeClr val="bg1"/>
                          </a:solidFill>
                          <a:effectLst/>
                        </a:rPr>
                        <a:t>OpenAI/Anthropic API + data catalog</a:t>
                      </a:r>
                      <a:endParaRPr lang="it-IT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010765"/>
                  </a:ext>
                </a:extLst>
              </a:tr>
              <a:tr h="4974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Auto‑Documentation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it-IT" sz="1800" b="0">
                          <a:solidFill>
                            <a:schemeClr val="bg1"/>
                          </a:solidFill>
                          <a:effectLst/>
                        </a:rPr>
                        <a:t>Live, accurate data catalog &amp; lineage</a:t>
                      </a:r>
                      <a:endParaRPr lang="it-IT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 err="1">
                          <a:solidFill>
                            <a:schemeClr val="bg1"/>
                          </a:solidFill>
                          <a:effectLst/>
                        </a:rPr>
                        <a:t>DataHub</a:t>
                      </a: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</a:rPr>
                        <a:t>, Atlan, Alation, </a:t>
                      </a:r>
                      <a:r>
                        <a:rPr lang="en-IN" sz="1800" b="0" dirty="0" err="1">
                          <a:solidFill>
                            <a:schemeClr val="bg1"/>
                          </a:solidFill>
                          <a:effectLst/>
                        </a:rPr>
                        <a:t>dbt</a:t>
                      </a: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</a:rPr>
                        <a:t> docs</a:t>
                      </a:r>
                      <a:endParaRPr lang="en-IN" sz="18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950928"/>
                  </a:ext>
                </a:extLst>
              </a:tr>
              <a:tr h="7796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</a:rPr>
                        <a:t>Intelligent Data Quality</a:t>
                      </a:r>
                      <a:endParaRPr lang="en-IN" sz="18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Proactive anomaly detection &amp; root‑cause hints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Monte Carlo, Soda, custom LLM agents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435507"/>
                  </a:ext>
                </a:extLst>
              </a:tr>
              <a:tr h="4974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Synthetic Data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Safe, fast testing &amp; development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it-IT" sz="1800" b="0">
                          <a:solidFill>
                            <a:schemeClr val="bg1"/>
                          </a:solidFill>
                          <a:effectLst/>
                        </a:rPr>
                        <a:t>Mostly AI, Gretel, </a:t>
                      </a:r>
                      <a:r>
                        <a:rPr lang="it-IT" sz="1800" b="0" u="none" strike="noStrike">
                          <a:solidFill>
                            <a:schemeClr val="bg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Tonic.ai</a:t>
                      </a:r>
                      <a:endParaRPr lang="it-IT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564823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Schema Design &amp; Migration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Faster, standardised modelling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Internal copilots, ER/Studio plugins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974926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Test Generation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Reliable pipelines, fewer data incidents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dbt, Great Expectations, Soda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33287"/>
                  </a:ext>
                </a:extLst>
              </a:tr>
              <a:tr h="6385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solidFill>
                            <a:schemeClr val="bg1"/>
                          </a:solidFill>
                          <a:effectLst/>
                        </a:rPr>
                        <a:t>Conversational Debugging</a:t>
                      </a:r>
                      <a:endParaRPr lang="en-IN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4276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Faster MTTR, better on‑call experience</a:t>
                      </a:r>
                      <a:endParaRPr lang="en-US" sz="18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9195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</a:rPr>
                        <a:t>Data observability platforms + LLMs</a:t>
                      </a:r>
                      <a:endParaRPr lang="en-IN" sz="18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49195" marR="44276" marT="30747" marB="30747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2289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2A5B3FB-0AA4-23F9-DA20-6DEA9E116084}"/>
              </a:ext>
            </a:extLst>
          </p:cNvPr>
          <p:cNvSpPr txBox="1"/>
          <p:nvPr/>
        </p:nvSpPr>
        <p:spPr>
          <a:xfrm>
            <a:off x="6143625" y="649450"/>
            <a:ext cx="6096000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C000"/>
                </a:solidFill>
                <a:effectLst/>
                <a:latin typeface="quote-cjk-patch"/>
              </a:rPr>
              <a:t>The “Best” Use Cases – Quick Summary Table</a:t>
            </a:r>
          </a:p>
        </p:txBody>
      </p:sp>
    </p:spTree>
    <p:extLst>
      <p:ext uri="{BB962C8B-B14F-4D97-AF65-F5344CB8AC3E}">
        <p14:creationId xmlns:p14="http://schemas.microsoft.com/office/powerpoint/2010/main" val="917337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596D0-43B0-F01F-CBE7-F70072CC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4868E-8FF7-18D9-771B-D62C09EB2CC3}"/>
              </a:ext>
            </a:extLst>
          </p:cNvPr>
          <p:cNvSpPr txBox="1"/>
          <p:nvPr/>
        </p:nvSpPr>
        <p:spPr>
          <a:xfrm>
            <a:off x="365760" y="182880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i="0" dirty="0">
                <a:solidFill>
                  <a:srgbClr val="FFFFFF"/>
                </a:solidFill>
                <a:latin typeface="Aptos Narrow"/>
              </a:rPr>
              <a:t>Quiz</a:t>
            </a:r>
            <a:endParaRPr sz="3600" b="1" i="0" dirty="0">
              <a:solidFill>
                <a:srgbClr val="FFFFFF"/>
              </a:solidFill>
              <a:latin typeface="Aptos Narrow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5141AF-2266-B22A-8456-67FE9430A4CE}"/>
              </a:ext>
            </a:extLst>
          </p:cNvPr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AhaSlides Reviews 2026: Details, Pricing, &amp; Features | G2">
            <a:extLst>
              <a:ext uri="{FF2B5EF4-FFF2-40B4-BE49-F238E27FC236}">
                <a16:creationId xmlns:a16="http://schemas.microsoft.com/office/drawing/2014/main" id="{BBABA6A1-4C7B-787C-2192-68FC01023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49" y="1476601"/>
            <a:ext cx="4913221" cy="491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25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77C1-2E75-E070-CB4E-9434B0EA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3A4BBF-A8F4-B918-C223-99A5E3610001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8AF08B-2F1F-EBF9-3FBD-6ED706B363FB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7009C-E8DD-6FD5-602C-B0FC0355F926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49CB4AB-FB02-F5BA-45F4-AF1C4749D028}"/>
              </a:ext>
            </a:extLst>
          </p:cNvPr>
          <p:cNvSpPr/>
          <p:nvPr/>
        </p:nvSpPr>
        <p:spPr>
          <a:xfrm>
            <a:off x="2193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</a:t>
            </a:r>
            <a:endParaRPr lang="en-US" sz="3199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30EBF8-F650-8CF6-EF07-7D426569B701}"/>
              </a:ext>
            </a:extLst>
          </p:cNvPr>
          <p:cNvSpPr/>
          <p:nvPr/>
        </p:nvSpPr>
        <p:spPr>
          <a:xfrm>
            <a:off x="5057774" y="3619129"/>
            <a:ext cx="3585791" cy="2695575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Interactive HTML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65303E-49B0-CF23-542A-76475CB2CD21}"/>
              </a:ext>
            </a:extLst>
          </p:cNvPr>
          <p:cNvSpPr/>
          <p:nvPr/>
        </p:nvSpPr>
        <p:spPr>
          <a:xfrm>
            <a:off x="2733674" y="543296"/>
            <a:ext cx="3585791" cy="2695575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Transformer </a:t>
            </a:r>
            <a:r>
              <a:rPr lang="en-IN" sz="3600" b="1" dirty="0" err="1"/>
              <a:t>Deepdive</a:t>
            </a:r>
            <a:endParaRPr lang="en-IN" sz="36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FA47F2-3F6B-2060-EE81-B2DB9D00DDF8}"/>
              </a:ext>
            </a:extLst>
          </p:cNvPr>
          <p:cNvSpPr/>
          <p:nvPr/>
        </p:nvSpPr>
        <p:spPr>
          <a:xfrm>
            <a:off x="7848599" y="485576"/>
            <a:ext cx="3585791" cy="2695575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Smart Prompting</a:t>
            </a:r>
          </a:p>
        </p:txBody>
      </p:sp>
    </p:spTree>
    <p:extLst>
      <p:ext uri="{BB962C8B-B14F-4D97-AF65-F5344CB8AC3E}">
        <p14:creationId xmlns:p14="http://schemas.microsoft.com/office/powerpoint/2010/main" val="913672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63D6-9A0B-0874-EE02-08639DFA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EE07E5-820E-524D-0067-F0EC63680A3D}"/>
              </a:ext>
            </a:extLst>
          </p:cNvPr>
          <p:cNvSpPr/>
          <p:nvPr/>
        </p:nvSpPr>
        <p:spPr>
          <a:xfrm>
            <a:off x="0" y="893"/>
            <a:ext cx="2130786" cy="6856214"/>
          </a:xfrm>
          <a:prstGeom prst="rect">
            <a:avLst/>
          </a:prstGeom>
          <a:solidFill>
            <a:srgbClr val="101D3A"/>
          </a:solidFill>
          <a:ln w="12700">
            <a:solidFill>
              <a:srgbClr val="101D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A23B0C-DBFC-5BDD-9577-D9E33745E2E0}"/>
              </a:ext>
            </a:extLst>
          </p:cNvPr>
          <p:cNvSpPr/>
          <p:nvPr/>
        </p:nvSpPr>
        <p:spPr>
          <a:xfrm>
            <a:off x="0" y="6314704"/>
            <a:ext cx="2130786" cy="542403"/>
          </a:xfrm>
          <a:prstGeom prst="rect">
            <a:avLst/>
          </a:prstGeom>
          <a:solidFill>
            <a:srgbClr val="0F9BAE"/>
          </a:solidFill>
          <a:ln w="12700">
            <a:solidFill>
              <a:srgbClr val="0F9BAE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3132E-6503-D118-F5CA-5A9F8664B81E}"/>
              </a:ext>
            </a:extLst>
          </p:cNvPr>
          <p:cNvSpPr txBox="1"/>
          <p:nvPr/>
        </p:nvSpPr>
        <p:spPr>
          <a:xfrm>
            <a:off x="3040434" y="3181151"/>
            <a:ext cx="6098926" cy="46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399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CB154BA-5387-101E-5873-EB0E3C8855B6}"/>
              </a:ext>
            </a:extLst>
          </p:cNvPr>
          <p:cNvSpPr/>
          <p:nvPr/>
        </p:nvSpPr>
        <p:spPr>
          <a:xfrm>
            <a:off x="219399" y="366558"/>
            <a:ext cx="2974073" cy="871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199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Gen AI</a:t>
            </a:r>
            <a:endParaRPr lang="en-US" sz="3199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2AD8E-9757-A372-6203-4FC80F2986A7}"/>
              </a:ext>
            </a:extLst>
          </p:cNvPr>
          <p:cNvSpPr txBox="1"/>
          <p:nvPr/>
        </p:nvSpPr>
        <p:spPr>
          <a:xfrm>
            <a:off x="2333625" y="3249096"/>
            <a:ext cx="97250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https://tinyurl.com/sigmoid18may26</a:t>
            </a:r>
          </a:p>
        </p:txBody>
      </p:sp>
    </p:spTree>
    <p:extLst>
      <p:ext uri="{BB962C8B-B14F-4D97-AF65-F5344CB8AC3E}">
        <p14:creationId xmlns:p14="http://schemas.microsoft.com/office/powerpoint/2010/main" val="3445554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Live Demo 1 — OpenAI Tokenizer (platform.openai.com/tokenizer)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8D8"/>
                </a:solidFill>
                <a:latin typeface="Aptos Narrow"/>
              </a:rPr>
              <a:t>Trainer pastes each item live. Observe token count and cost implications.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83092"/>
              </p:ext>
            </p:extLst>
          </p:nvPr>
        </p:nvGraphicFramePr>
        <p:xfrm>
          <a:off x="365760" y="1664208"/>
          <a:ext cx="1145743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Narrow"/>
                        </a:rPr>
                        <a:t>Text to Paste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Narrow"/>
                        </a:rPr>
                        <a:t>Tokens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Narrow"/>
                        </a:rPr>
                        <a:t>Takeaway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'Hello World'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2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As expected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'detect_schema_drift()'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5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Underscores inflate count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A full Airflow DAG file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Count live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Typical file = 500–2,000 tokens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A 500-row CSV header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Count live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Context window planning needed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10 pipeline files for AI review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ptos Narrow"/>
                        </a:rPr>
                        <a:t>Count live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FFFFFF"/>
                          </a:solidFill>
                          <a:latin typeface="Aptos Narrow"/>
                        </a:rPr>
                        <a:t>$100–$500/day at scale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Live Demo 2 — HuggingFace Model Hub (huggingface.co/models)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696" y="1188720"/>
            <a:ext cx="114574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Step 1 — Filter by task: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Text Generation · Sentence Similarity · Feature Extraction (embeddings)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Step 2 — Open meta-llama/Llama-3.2-8B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Model card: parameters,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licence</a:t>
            </a:r>
            <a:r>
              <a:rPr dirty="0">
                <a:solidFill>
                  <a:srgbClr val="BBC8D8"/>
                </a:solidFill>
                <a:latin typeface="Aptos Narrow"/>
              </a:rPr>
              <a:t>, training data, intended use.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Note: CC-BY-NC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licence</a:t>
            </a:r>
            <a:r>
              <a:rPr dirty="0">
                <a:solidFill>
                  <a:srgbClr val="BBC8D8"/>
                </a:solidFill>
                <a:latin typeface="Aptos Narrow"/>
              </a:rPr>
              <a:t> — NOT for commercial products without Meta permission.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Step 3 — Open sentence-transformers/all-MiniLM-L6-v2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Embedding model · 384 dimensions · 80MB · runs on CPU in under 1 second.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This is what we will use in the RAG lab on Day 4.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Step 4 — Search nomic-embed-text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Available on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Ollama</a:t>
            </a:r>
            <a:r>
              <a:rPr dirty="0">
                <a:solidFill>
                  <a:srgbClr val="BBC8D8"/>
                </a:solidFill>
                <a:latin typeface="Aptos Narrow"/>
              </a:rPr>
              <a:t> · local embeddings · 768 dimensions.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dirty="0">
                <a:solidFill>
                  <a:srgbClr val="FFFFFF"/>
                </a:solidFill>
                <a:latin typeface="Aptos Narrow"/>
              </a:rPr>
              <a:t>• Takeaway: </a:t>
            </a:r>
            <a:r>
              <a:rPr sz="2000" dirty="0" err="1">
                <a:solidFill>
                  <a:srgbClr val="FFFFFF"/>
                </a:solidFill>
                <a:latin typeface="Aptos Narrow"/>
              </a:rPr>
              <a:t>HuggingFace</a:t>
            </a:r>
            <a:r>
              <a:rPr sz="2000" dirty="0">
                <a:solidFill>
                  <a:srgbClr val="FFFFFF"/>
                </a:solidFill>
                <a:latin typeface="Aptos Narrow"/>
              </a:rPr>
              <a:t> is the App Store for AI models.</a:t>
            </a:r>
          </a:p>
          <a:p>
            <a:r>
              <a:rPr sz="2000" dirty="0">
                <a:solidFill>
                  <a:srgbClr val="FFFFFF"/>
                </a:solidFill>
                <a:latin typeface="Aptos Narrow"/>
              </a:rPr>
              <a:t>• Before building anything custom, check here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Live Demo 3 — Same Prompt, Claude vs ChatGPT,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Trainer runs this prompt on both models simultaneously: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'I have a Pandas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DataFrame</a:t>
            </a:r>
            <a:r>
              <a:rPr dirty="0">
                <a:solidFill>
                  <a:srgbClr val="BBC8D8"/>
                </a:solidFill>
                <a:latin typeface="Aptos Narrow"/>
              </a:rPr>
              <a:t> with 10 million rows and a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created_at</a:t>
            </a:r>
            <a:r>
              <a:rPr dirty="0">
                <a:solidFill>
                  <a:srgbClr val="BBC8D8"/>
                </a:solidFill>
                <a:latin typeface="Aptos Narrow"/>
              </a:rPr>
              <a:t> timestamp.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Write Python to add a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week_number</a:t>
            </a:r>
            <a:r>
              <a:rPr dirty="0">
                <a:solidFill>
                  <a:srgbClr val="BBC8D8"/>
                </a:solidFill>
                <a:latin typeface="Aptos Narrow"/>
              </a:rPr>
              <a:t> column (ISO week).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Optimise</a:t>
            </a:r>
            <a:r>
              <a:rPr dirty="0">
                <a:solidFill>
                  <a:srgbClr val="BBC8D8"/>
                </a:solidFill>
                <a:latin typeface="Aptos Narrow"/>
              </a:rPr>
              <a:t> for performance — this runs daily on a production pipeline.'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Watch for on each model: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Does it use .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dt.isocalendar</a:t>
            </a:r>
            <a:r>
              <a:rPr dirty="0">
                <a:solidFill>
                  <a:srgbClr val="BBC8D8"/>
                </a:solidFill>
                <a:latin typeface="Aptos Narrow"/>
              </a:rPr>
              <a:t>().week (correct) or .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dt.week</a:t>
            </a:r>
            <a:r>
              <a:rPr dirty="0">
                <a:solidFill>
                  <a:srgbClr val="BBC8D8"/>
                </a:solidFill>
                <a:latin typeface="Aptos Narrow"/>
              </a:rPr>
              <a:t> (deprecated)?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Does it use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vectorisation</a:t>
            </a:r>
            <a:r>
              <a:rPr dirty="0">
                <a:solidFill>
                  <a:srgbClr val="BBC8D8"/>
                </a:solidFill>
                <a:latin typeface="Aptos Narrow"/>
              </a:rPr>
              <a:t> — or slow .apply()?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Does it warn about the 10M row performance implication?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Does it handle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NaT</a:t>
            </a:r>
            <a:r>
              <a:rPr dirty="0">
                <a:solidFill>
                  <a:srgbClr val="BBC8D8"/>
                </a:solidFill>
                <a:latin typeface="Aptos Narrow"/>
              </a:rPr>
              <a:t> / null timestamps?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Does it explain WHY it made each choice?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Discussion: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Which response would you merge to production without changes?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Which would you reject, and why?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dirty="0">
                <a:solidFill>
                  <a:srgbClr val="FFFFFF"/>
                </a:solidFill>
                <a:latin typeface="Aptos Narrow"/>
              </a:rPr>
              <a:t>• This is exactly the rubric you use in your lab today.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ptos Narrow"/>
              </a:rPr>
              <a:t>Quiz</a:t>
            </a:r>
            <a:r>
              <a:rPr lang="en-IN" sz="2800" b="1" i="0" dirty="0">
                <a:solidFill>
                  <a:srgbClr val="FFFFFF"/>
                </a:solidFill>
                <a:latin typeface="Aptos Narrow"/>
              </a:rPr>
              <a:t> — Q1 and Q2</a:t>
            </a:r>
            <a:endParaRPr sz="2800" b="1" i="0" dirty="0">
              <a:solidFill>
                <a:srgbClr val="FFFFFF"/>
              </a:solidFill>
              <a:latin typeface="Aptos Narrow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Q1.  Which of the following best describes a 'token' in the context of LLMs?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A single word from the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858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A unit of text, approximately 0.75 words on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A unique session ID assigned to each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870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A single character processed one at a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58768"/>
            <a:ext cx="11457432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Q2.  The Transformer architecture improved on RNNs primarily because it: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Used more training data than any previous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521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Reads sequences word-by-word but twice as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0527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Processes the entire sequence simultaneously, enabling parallelism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533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Uses smaller parameter counts for faster inference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ptos Narrow"/>
              </a:rPr>
              <a:t>Quiz — Q3 and Q4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Q3.  Sigma Intelligence must process a file with raw customer PII. Which is correct?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Use GPT-4o API — it is the most accurate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858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Use Claude via API — Anthropic has strong safety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Use Ollama with Llama 3.2 locally — data never leaves the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870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Any model is fine as long as the data is encrypted in transit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58768"/>
            <a:ext cx="11457432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Q4.  Claude says Snowflake has a function called SPLIT_PART_ADVANCED() — it does not. This 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Model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521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0527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533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Context window overflow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Quiz — Q5 and Q6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Q5.  Which of the following BEST describes an embedding?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A compressed version of the training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858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A vector of numbers representing the semantic meaning of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A fine-tuning technique for domain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870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The positional index of a token in the input 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58768"/>
            <a:ext cx="11457432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Q6.  A churn model trained in 2023 fails in 2025 because customer behaviour changed. This 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521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Concept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0527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Context window overflow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533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Attention head failure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Quiz — Q7 and Q8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Q7.  You want to send 500 table schema definitions (~180,000 words) to an LLM in one call. Which model fits?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GPT-4o (128K token context)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858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Llama 3.2 (128K token 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Claude Sonnet 4 (200K token context)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870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None — all models fail at this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58768"/>
            <a:ext cx="11457432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Q8.  What does Multi-Head Attention do inside a Transformer?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Processes multiple user requests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521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Runs attention multiple times in parallel, each head learning different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0527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Splits long input into chunks to handle large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533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Prevents hallucinations by cross-checking attention scores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Quiz — Q9 and Q10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Q9.  Claude's Redshift SQL uses 'customer_id' but the real table uses 'customer_uuid'. It fails.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Hallucination — the model invented a wrong column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858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Model drift — training data is outdated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Incomplete prompt — the actual schema was not provided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8708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Context overflow — the query was too long to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58768"/>
            <a:ext cx="11457432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91363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Narrow"/>
              </a:rPr>
              <a:t>Q10. Which is NOT a recommended responsible AI practice for a DE team?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A)  Sending anonymised schema descriptions to external LLM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521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B)  Human review of all AI-generated DELETE/DROP 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0527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C)  Using Ollama locally for workloads involving raw customer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5332"/>
            <a:ext cx="11183112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C8D8"/>
                </a:solidFill>
                <a:latin typeface="Aptos Narrow"/>
              </a:rPr>
              <a:t>D)  Deploying AI-generated pipeline code to production without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Quiz Answers + Leaderboard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45743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76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 Narrow"/>
                        </a:rPr>
                        <a:t>Q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 Narrow"/>
                        </a:rPr>
                        <a:t>Answer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 Narrow"/>
                        </a:rPr>
                        <a:t>Why</a:t>
                      </a:r>
                    </a:p>
                  </a:txBody>
                  <a:tcPr>
                    <a:solidFill>
                      <a:srgbClr val="005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B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Token ≈ 0.75 words, not a full word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2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Parallelism is the key Transformer breakthrough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3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PII must stay local — Ollama, not cloud API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4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Fluent + confident + wrong = hallucination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5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B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Embedding = semantic vector in high-dimensional space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6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B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World changed → input-output relationship changed = concept drift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7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Claude Sonnet 4 has 200K context — only model that fits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8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B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Multiple heads, each learning different relationship types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9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C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Model had no schema — engineer's responsibility to provide it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877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10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D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Aptos Narrow"/>
                        </a:rPr>
                        <a:t>AI-generated code to prod without testing = unacceptable risk</a:t>
                      </a:r>
                    </a:p>
                  </a:txBody>
                  <a:tcPr>
                    <a:solidFill>
                      <a:srgbClr val="1A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Narrow"/>
              </a:rPr>
              <a:t>Day 1 Complete — What We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15568"/>
            <a:ext cx="1145743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57432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D4AA"/>
                </a:solidFill>
                <a:latin typeface="Aptos Narrow"/>
              </a:rPr>
              <a:t>Concepts: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GenAI history 2017–2025 · Transformer architecture · Attention &amp; Tokens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Key models compared · Embeddings · Hallucinations · Bias · Model Drift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Responsible AI · GenAI × DE opportunity map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Hands-on today: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Installed </a:t>
            </a:r>
            <a:r>
              <a:rPr dirty="0" err="1">
                <a:solidFill>
                  <a:srgbClr val="BBC8D8"/>
                </a:solidFill>
                <a:latin typeface="Aptos Narrow"/>
              </a:rPr>
              <a:t>Ollama</a:t>
            </a:r>
            <a:r>
              <a:rPr dirty="0">
                <a:solidFill>
                  <a:srgbClr val="BBC8D8"/>
                </a:solidFill>
                <a:latin typeface="Aptos Narrow"/>
              </a:rPr>
              <a:t> · pulled Llama 3.2 · ran first local LLM query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Benchmarked Claude / GPT-4o / Llama 3.2 on a real DE task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Tested generated code against known expected output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Presented findings as a team with a structured recommendation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b="1" dirty="0">
                <a:solidFill>
                  <a:srgbClr val="00D4AA"/>
                </a:solidFill>
                <a:latin typeface="Aptos Narrow"/>
              </a:rPr>
              <a:t>Tomorrow — Day 2: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Prompt Engineering for Data Engineers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NL→SQL · Chain-of-thought · Role prompting · Structured output</a:t>
            </a:r>
          </a:p>
          <a:p>
            <a:r>
              <a:rPr dirty="0">
                <a:solidFill>
                  <a:srgbClr val="BBC8D8"/>
                </a:solidFill>
                <a:latin typeface="Aptos Narrow"/>
              </a:rPr>
              <a:t>    › Building your reusable DE Prompt Library</a:t>
            </a:r>
          </a:p>
          <a:p>
            <a:pPr>
              <a:spcAft>
                <a:spcPts val="600"/>
              </a:spcAft>
            </a:pPr>
            <a:endParaRPr dirty="0">
              <a:solidFill>
                <a:srgbClr val="BBC8D8"/>
              </a:solidFill>
              <a:latin typeface="Aptos Narrow"/>
            </a:endParaRPr>
          </a:p>
          <a:p>
            <a:r>
              <a:rPr sz="2000" dirty="0">
                <a:solidFill>
                  <a:srgbClr val="FFFFFF"/>
                </a:solidFill>
                <a:latin typeface="Aptos Narrow"/>
              </a:rPr>
              <a:t>• Sigma Intelligence status: Mission 1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2346</Words>
  <Application>Microsoft Office PowerPoint</Application>
  <PresentationFormat>Custom</PresentationFormat>
  <Paragraphs>401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 Narrow</vt:lpstr>
      <vt:lpstr>Arial</vt:lpstr>
      <vt:lpstr>Calibri</vt:lpstr>
      <vt:lpstr>Georgia</vt:lpstr>
      <vt:lpstr>Mont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Anil S</dc:creator>
  <cp:keywords/>
  <dc:description>generated using python-pptx</dc:description>
  <cp:lastModifiedBy>Anil Kumar S</cp:lastModifiedBy>
  <cp:revision>8</cp:revision>
  <dcterms:created xsi:type="dcterms:W3CDTF">2013-01-27T09:14:16Z</dcterms:created>
  <dcterms:modified xsi:type="dcterms:W3CDTF">2026-05-18T09:52:44Z</dcterms:modified>
  <cp:category/>
</cp:coreProperties>
</file>